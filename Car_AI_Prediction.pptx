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029200" cy="50292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206240" cy="420624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394960"/>
            <a:ext cx="1828800" cy="1828800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0607040" y="822960"/>
            <a:ext cx="1005840" cy="54864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822960"/>
            <a:ext cx="731520" cy="82296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155680" y="1645920"/>
            <a:ext cx="1188720" cy="64008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1828800"/>
            <a:ext cx="1371600" cy="45720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784080" y="548640"/>
            <a:ext cx="457200" cy="128016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548640"/>
            <a:ext cx="365760" cy="82296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1371600"/>
            <a:ext cx="548640" cy="91440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784080" y="822960"/>
            <a:ext cx="1828800" cy="1005840"/>
          </a:xfrm>
          <a:prstGeom prst="line">
            <a:avLst/>
          </a:prstGeom>
          <a:noFill/>
          <a:ln w="12700">
            <a:solidFill>
              <a:srgbClr val="35E7D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5892" y="13304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71732" y="7818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03252" y="16047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14532" y="22448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9742932" y="17876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00132" y="50749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822960" y="6071616"/>
            <a:ext cx="603504" cy="329184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6464" y="6071616"/>
            <a:ext cx="438912" cy="493776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52144" y="6565392"/>
            <a:ext cx="713232" cy="384048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6675120"/>
            <a:ext cx="822960" cy="274320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29184" y="5907024"/>
            <a:ext cx="274320" cy="768096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" y="5907024"/>
            <a:ext cx="219456" cy="493776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400800"/>
            <a:ext cx="329184" cy="548640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29184" y="6071616"/>
            <a:ext cx="1097280" cy="603504"/>
          </a:xfrm>
          <a:prstGeom prst="line">
            <a:avLst/>
          </a:prstGeom>
          <a:noFill/>
          <a:ln w="12700">
            <a:solidFill>
              <a:srgbClr val="6C4CF1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" y="635965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28" name="Shape 26"/>
          <p:cNvSpPr/>
          <p:nvPr/>
        </p:nvSpPr>
        <p:spPr>
          <a:xfrm>
            <a:off x="1385316" y="6030468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4228" y="6524244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0996" y="690829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31" name="Shape 29"/>
          <p:cNvSpPr/>
          <p:nvPr/>
        </p:nvSpPr>
        <p:spPr>
          <a:xfrm>
            <a:off x="288036" y="663397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" y="5865876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spc="100" kern="0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CAR-AI </a:t>
            </a:r>
            <a:pPr algn="l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34" name="Text 32"/>
          <p:cNvSpPr/>
          <p:nvPr/>
        </p:nvSpPr>
        <p:spPr>
          <a:xfrm>
            <a:off x="86868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Insights into the Egyptian Car Market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68680" y="3840480"/>
            <a:ext cx="2011680" cy="0"/>
          </a:xfrm>
          <a:prstGeom prst="line">
            <a:avLst/>
          </a:prstGeom>
          <a:noFill/>
          <a:ln w="38100">
            <a:solidFill>
              <a:srgbClr val="35E7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4498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Mohamed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074920" y="4572000"/>
            <a:ext cx="201168" cy="201168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4498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Walid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68680" y="5029200"/>
            <a:ext cx="201168" cy="201168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42" name="Text 40"/>
          <p:cNvSpPr/>
          <p:nvPr/>
        </p:nvSpPr>
        <p:spPr>
          <a:xfrm>
            <a:off x="1188720" y="49560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Ibrahim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074920" y="5029200"/>
            <a:ext cx="201168" cy="201168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49560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Nader Fawzy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5486400"/>
            <a:ext cx="201168" cy="201168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46" name="Text 44"/>
          <p:cNvSpPr/>
          <p:nvPr/>
        </p:nvSpPr>
        <p:spPr>
          <a:xfrm>
            <a:off x="1188720" y="5413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Hani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Target has the highest average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6324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7030"/>
            <a:ext cx="6949440" cy="3364021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the Mercedes C180 topping the rankings in terms of average car prices; this reflects the features and services the vehicle offers, marking it as one of the best cars available.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has the highest average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6802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1670"/>
            <a:ext cx="6949440" cy="3974741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that the Jeep category is the highest-priced segment, followed by sedans, and then the remaining categories.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mileage affect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7221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97" y="1280160"/>
            <a:ext cx="6237646" cy="49377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that the car's price generally decreases as the distance traveled increases.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newer cars cost more?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7563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17553"/>
            <a:ext cx="6949440" cy="326297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 here that prices increase as the cars become newer.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engine volume affect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8114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97" y="1280160"/>
            <a:ext cx="6237646" cy="49377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here that the price level increases as the engine capacity increases.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city has the highest average car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8489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35138"/>
            <a:ext cx="6949440" cy="322780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that the cities of Ras Ghareb and Madinaty have the highest concentration of expensive cars.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gearbox type has the highest average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8816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2661"/>
            <a:ext cx="6949440" cy="4652759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 find that automatic cars are the most expensive.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Target appears most frequently?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9254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0287"/>
            <a:ext cx="6949440" cy="311750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that the Nissan Sunny is the most widespread car, indicating strong demand for it in the Egyptian market.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contains the largest number of cars?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39923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30423"/>
            <a:ext cx="6949440" cy="363723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that the sedan segment is the most widespread in the Egyptian market.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cities contain the largest number of cars?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0250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35138"/>
            <a:ext cx="6949440" cy="322780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that Cairo is the city with the highest number of cars on offer; this is because it is the capital and the most populous city.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production year has the highest number of listed cars?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0538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6508"/>
            <a:ext cx="6949440" cy="336506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find that 2021 was a peak year for car production and market penetration, a trend driven by population growth and an increase in the number of people looking to purchase vehicles.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Target has the lowest average mileage?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0866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86304"/>
            <a:ext cx="6949440" cy="31254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that cars that have not covered long distances command a higher market value.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has the highest average mileage?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1940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03941"/>
            <a:ext cx="6949440" cy="349019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find that certain categories of vehicles cover greater distances than others, depending on the nature of their use.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city has the newest cars?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2356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78058"/>
            <a:ext cx="6949440" cy="334196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evident that the city of Kom Ombo has the highest prevalence of cars.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has the newest cars?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2669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0802"/>
            <a:ext cx="6949440" cy="359647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shown in the image, we find here that modern categories—such as Jeeps—are always the most expensive.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Target has the highest average engine volume?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2946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25454"/>
            <a:ext cx="6949440" cy="324717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larger engines are often sports cars or luxury vehicles.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category has the highest average engine volume?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32513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03941"/>
            <a:ext cx="6949440" cy="349019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we highlight the categories with the largest engine capacities.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airbags distributed?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3528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7854"/>
            <a:ext cx="6949440" cy="3802371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explain the most common types of airbags.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number of airbags affect price?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3822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8960"/>
            <a:ext cx="6949440" cy="38201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that as the number of airbags increases, the price increases.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0E23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822960"/>
            <a:ext cx="2011680" cy="201168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11430000" y="155448"/>
            <a:ext cx="553212" cy="30175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3212" y="155448"/>
            <a:ext cx="402336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731752" y="608076"/>
            <a:ext cx="653796" cy="352044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7372" y="708660"/>
            <a:ext cx="754380" cy="25146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977372" y="4572"/>
            <a:ext cx="251460" cy="70408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"/>
            <a:ext cx="201168" cy="452628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457200"/>
            <a:ext cx="301752" cy="502920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77372" y="155448"/>
            <a:ext cx="1005840" cy="553212"/>
          </a:xfrm>
          <a:prstGeom prst="line">
            <a:avLst/>
          </a:prstGeom>
          <a:noFill/>
          <a:ln w="12700">
            <a:solidFill>
              <a:srgbClr val="35E7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8852" y="41605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42064" y="114300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0" y="566928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90604" y="91897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36224" y="667512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87684" y="-36576"/>
            <a:ext cx="82296" cy="82296"/>
          </a:xfrm>
          <a:prstGeom prst="ellipse">
            <a:avLst/>
          </a:prstGeom>
          <a:solidFill>
            <a:srgbClr val="35E7D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097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5E7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34440" y="109728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distribution of car prices?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1143000"/>
            <a:ext cx="7223760" cy="5212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2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0B0E23">
                <a:alpha val="15000"/>
              </a:srgbClr>
            </a:outerShdw>
          </a:effectLst>
        </p:spPr>
      </p:sp>
      <p:pic>
        <p:nvPicPr>
          <p:cNvPr id="21" name="Image 0" descr="/home/claude/pptx_proj2/images/178602544083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7854"/>
            <a:ext cx="6949440" cy="3802371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35240" y="1280160"/>
            <a:ext cx="4114800" cy="4937760"/>
          </a:xfrm>
          <a:prstGeom prst="rect">
            <a:avLst/>
          </a:prstGeom>
          <a:solidFill>
            <a:srgbClr val="141A3D"/>
          </a:solidFill>
          <a:ln/>
          <a:effectLst>
            <a:outerShdw sx="100000" sy="100000" kx="0" ky="0" algn="bl" rotWithShape="0" blurRad="101600" dist="38100" dir="5400000">
              <a:srgbClr val="0B0E23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744200" y="5212080"/>
            <a:ext cx="2194560" cy="2194560"/>
          </a:xfrm>
          <a:prstGeom prst="ellipse">
            <a:avLst/>
          </a:prstGeom>
          <a:solidFill>
            <a:srgbClr val="0B0E23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55280" y="1901952"/>
            <a:ext cx="822960" cy="0"/>
          </a:xfrm>
          <a:prstGeom prst="line">
            <a:avLst/>
          </a:prstGeom>
          <a:noFill/>
          <a:ln w="25400">
            <a:solidFill>
              <a:srgbClr val="6C4C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205740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shows that most cars are moderately priced.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Car-AI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029200" cy="50292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206240" cy="420624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6080760" y="4206240"/>
            <a:ext cx="1005840" cy="54864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4206240"/>
            <a:ext cx="731520" cy="82296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629400" y="5029200"/>
            <a:ext cx="1188720" cy="64008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0" y="5212080"/>
            <a:ext cx="1371600" cy="45720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257800" y="3931920"/>
            <a:ext cx="457200" cy="128016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3931920"/>
            <a:ext cx="365760" cy="82296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4754880"/>
            <a:ext cx="548640" cy="91440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257800" y="4206240"/>
            <a:ext cx="1828800" cy="1005840"/>
          </a:xfrm>
          <a:prstGeom prst="line">
            <a:avLst/>
          </a:prstGeom>
          <a:noFill/>
          <a:ln w="12700">
            <a:solidFill>
              <a:srgbClr val="35E7D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9612" y="471373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5452" y="416509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6972" y="498805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8252" y="562813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6652" y="517093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3852" y="3890772"/>
            <a:ext cx="82296" cy="82296"/>
          </a:xfrm>
          <a:prstGeom prst="ellipse">
            <a:avLst/>
          </a:prstGeom>
          <a:solidFill>
            <a:srgbClr val="6C4CF1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2026-08-06T14:13:01Z</dcterms:created>
  <dcterms:modified xsi:type="dcterms:W3CDTF">2026-08-06T14:13:01Z</dcterms:modified>
</cp:coreProperties>
</file>